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부정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수업 품질</c:v>
                  </c:pt>
                  <c:pt idx="1">
                    <c:v>튜터 매칭 적합도</c:v>
                  </c:pt>
                  <c:pt idx="2">
                    <c:v>비용·결제·가성비</c:v>
                  </c:pt>
                  <c:pt idx="3">
                    <c:v>상담·온보딩 명확성</c:v>
                  </c:pt>
                  <c:pt idx="4">
                    <c:v>학습관리·진도 피드백</c:v>
                  </c:pt>
                  <c:pt idx="5">
                    <c:v>학부모 커뮤니케이션</c:v>
                  </c:pt>
                  <c:pt idx="6">
                    <c:v>운영 응대·이슈 해결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</c:v>
                </c:pt>
                <c:pt idx="1">
                  <c:v>12</c:v>
                </c:pt>
                <c:pt idx="2">
                  <c:v>15</c:v>
                </c:pt>
                <c:pt idx="3">
                  <c:v>18</c:v>
                </c:pt>
                <c:pt idx="4">
                  <c:v>22</c:v>
                </c:pt>
                <c:pt idx="5">
                  <c:v>25</c:v>
                </c:pt>
                <c:pt idx="6">
                  <c:v>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중립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수업 품질</c:v>
                  </c:pt>
                  <c:pt idx="1">
                    <c:v>튜터 매칭 적합도</c:v>
                  </c:pt>
                  <c:pt idx="2">
                    <c:v>비용·결제·가성비</c:v>
                  </c:pt>
                  <c:pt idx="3">
                    <c:v>상담·온보딩 명확성</c:v>
                  </c:pt>
                  <c:pt idx="4">
                    <c:v>학습관리·진도 피드백</c:v>
                  </c:pt>
                  <c:pt idx="5">
                    <c:v>학부모 커뮤니케이션</c:v>
                  </c:pt>
                  <c:pt idx="6">
                    <c:v>운영 응대·이슈 해결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22</c:v>
                </c:pt>
                <c:pt idx="1">
                  <c:v>23</c:v>
                </c:pt>
                <c:pt idx="2">
                  <c:v>50</c:v>
                </c:pt>
                <c:pt idx="3">
                  <c:v>32</c:v>
                </c:pt>
                <c:pt idx="4">
                  <c:v>38</c:v>
                </c:pt>
                <c:pt idx="5">
                  <c:v>35</c:v>
                </c:pt>
                <c:pt idx="6">
                  <c:v>40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긍정</c:v>
                </c:pt>
              </c:strCache>
            </c:strRef>
          </c:tx>
          <c:spPr>
            <a:solidFill>
              <a:srgbClr val="5C8B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수업 품질</c:v>
                  </c:pt>
                  <c:pt idx="1">
                    <c:v>튜터 매칭 적합도</c:v>
                  </c:pt>
                  <c:pt idx="2">
                    <c:v>비용·결제·가성비</c:v>
                  </c:pt>
                  <c:pt idx="3">
                    <c:v>상담·온보딩 명확성</c:v>
                  </c:pt>
                  <c:pt idx="4">
                    <c:v>학습관리·진도 피드백</c:v>
                  </c:pt>
                  <c:pt idx="5">
                    <c:v>학부모 커뮤니케이션</c:v>
                  </c:pt>
                  <c:pt idx="6">
                    <c:v>운영 응대·이슈 해결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70</c:v>
                </c:pt>
                <c:pt idx="1">
                  <c:v>65</c:v>
                </c:pt>
                <c:pt idx="2">
                  <c:v>35</c:v>
                </c:pt>
                <c:pt idx="3">
                  <c:v>50</c:v>
                </c:pt>
                <c:pt idx="4">
                  <c:v>40</c:v>
                </c:pt>
                <c:pt idx="5">
                  <c:v>40</c:v>
                </c:pt>
                <c:pt idx="6">
                  <c:v>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B1929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0B1929"/>
              </a:solidFill>
              <a:latin typeface="Pretendard"/>
              <a:cs typeface="Pretendard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재구매 의향</c:v>
                </c:pt>
              </c:strCache>
            </c:strRef>
          </c:tx>
          <c:spPr>
            <a:solidFill>
              <a:srgbClr val="5C8B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수업 품질</c:v>
                  </c:pt>
                  <c:pt idx="1">
                    <c:v>튜터 매칭</c:v>
                  </c:pt>
                  <c:pt idx="2">
                    <c:v>비용·결제</c:v>
                  </c:pt>
                  <c:pt idx="3">
                    <c:v>상담·온보딩</c:v>
                  </c:pt>
                  <c:pt idx="4">
                    <c:v>학습관리·피드백</c:v>
                  </c:pt>
                  <c:pt idx="5">
                    <c:v>학부모 커뮤니</c:v>
                  </c:pt>
                  <c:pt idx="6">
                    <c:v>운영 응대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</c:v>
                </c:pt>
                <c:pt idx="1">
                  <c:v>6</c:v>
                </c:pt>
                <c:pt idx="2">
                  <c:v>10</c:v>
                </c:pt>
                <c:pt idx="3">
                  <c:v>12</c:v>
                </c:pt>
                <c:pt idx="4">
                  <c:v>14</c:v>
                </c:pt>
                <c:pt idx="5">
                  <c:v>15</c:v>
                </c:pt>
                <c:pt idx="6">
                  <c:v>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중립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수업 품질</c:v>
                  </c:pt>
                  <c:pt idx="1">
                    <c:v>튜터 매칭</c:v>
                  </c:pt>
                  <c:pt idx="2">
                    <c:v>비용·결제</c:v>
                  </c:pt>
                  <c:pt idx="3">
                    <c:v>상담·온보딩</c:v>
                  </c:pt>
                  <c:pt idx="4">
                    <c:v>학습관리·피드백</c:v>
                  </c:pt>
                  <c:pt idx="5">
                    <c:v>학부모 커뮤니</c:v>
                  </c:pt>
                  <c:pt idx="6">
                    <c:v>운영 응대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8</c:v>
                </c:pt>
                <c:pt idx="1">
                  <c:v>12</c:v>
                </c:pt>
                <c:pt idx="2">
                  <c:v>16</c:v>
                </c:pt>
                <c:pt idx="3">
                  <c:v>18</c:v>
                </c:pt>
                <c:pt idx="4">
                  <c:v>22</c:v>
                </c:pt>
                <c:pt idx="5">
                  <c:v>25</c:v>
                </c:pt>
                <c:pt idx="6">
                  <c:v>30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이탈 의향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수업 품질</c:v>
                  </c:pt>
                  <c:pt idx="1">
                    <c:v>튜터 매칭</c:v>
                  </c:pt>
                  <c:pt idx="2">
                    <c:v>비용·결제</c:v>
                  </c:pt>
                  <c:pt idx="3">
                    <c:v>상담·온보딩</c:v>
                  </c:pt>
                  <c:pt idx="4">
                    <c:v>학습관리·피드백</c:v>
                  </c:pt>
                  <c:pt idx="5">
                    <c:v>학부모 커뮤니</c:v>
                  </c:pt>
                  <c:pt idx="6">
                    <c:v>운영 응대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12</c:v>
                </c:pt>
                <c:pt idx="1">
                  <c:v>18</c:v>
                </c:pt>
                <c:pt idx="2">
                  <c:v>22</c:v>
                </c:pt>
                <c:pt idx="3">
                  <c:v>26</c:v>
                </c:pt>
                <c:pt idx="4">
                  <c:v>38</c:v>
                </c:pt>
                <c:pt idx="5">
                  <c:v>48</c:v>
                </c:pt>
                <c:pt idx="6">
                  <c:v>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800" b="0" i="0" u="none" strike="noStrike">
                <a:solidFill>
                  <a:srgbClr val="0B1929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5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94A3B8"/>
                    </a:solidFill>
                    <a:latin typeface="Pretendard"/>
                  </a:defRPr>
                </a:pPr>
                <a:r>
                  <a:rPr sz="800" b="0" i="0" u="none" strike="noStrike">
                    <a:solidFill>
                      <a:srgbClr val="94A3B8"/>
                    </a:solidFill>
                    <a:latin typeface="Pretendard"/>
                  </a:rPr>
                  <a:t>카테고리별 부정 후기 비율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0B1929"/>
              </a:solidFill>
              <a:latin typeface="Pretendard"/>
              <a:cs typeface="Pretendard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SAMPLE  ·  CREATED FOR TEAM UPGRADE APPLICATION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8229600" cy="0"/>
          </a:xfrm>
          <a:prstGeom prst="line">
            <a:avLst/>
          </a:prstGeom>
          <a:noFill/>
          <a:ln w="6350">
            <a:solidFill>
              <a:srgbClr val="E2E5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업그레이드캠퍼스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학생·학부모 VOC 100건 운영 분석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548640" cy="0"/>
          </a:xfrm>
          <a:prstGeom prst="line">
            <a:avLst/>
          </a:prstGeom>
          <a:noFill/>
          <a:ln w="25400">
            <a:solidFill>
              <a:srgbClr val="5C8B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VOC 100건으로 본 재구매·이탈 패턴과 운영 개선 우선순위 3가지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팀업그레이드 운영팀 지원 자료로,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학생·학부모 VOC 데이터의 카테고리·만족도 분류와 재구매·이탈 패턴 분석 흐름을 12장에 담았습니다.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4160520"/>
            <a:ext cx="8229600" cy="0"/>
          </a:xfrm>
          <a:prstGeom prst="line">
            <a:avLst/>
          </a:prstGeom>
          <a:noFill/>
          <a:ln w="6350">
            <a:solidFill>
              <a:srgbClr val="E2E5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2976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지원자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4526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윤상훈 · Sanghoon Yoon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42976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지원 직무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00400" y="4526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업그레이드캠퍼스 운영팀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0" y="42976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작성일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943600" y="4526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48234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업그레이드캠퍼스 학생·학부모 VOC 100건 운영 분석 · 윤상훈 · 팀업그레이드 운영팀 지원 자료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63840" y="48234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/ 12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·  WHY THIS REPORT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6350">
            <a:solidFill>
              <a:srgbClr val="E2E5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보고서의 목적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운영팀 지원자가 입사 전 다룰 자료의 결을 미리 시연한 결과물입니다.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36576" cy="2606040"/>
          </a:xfrm>
          <a:prstGeom prst="rect">
            <a:avLst/>
          </a:prstGeom>
          <a:solidFill>
            <a:srgbClr val="5C8B7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11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직무 적합성 시연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운영팀 핵심 업무 — VOC·데이터 기반 서비스 개선, 재구매율·만족도 등 핵심 지표 추적, 빡센 관리 시스템 실행 — 흐름을 가상 시나리오로 직접 수행했습니다.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23260" y="1920240"/>
            <a:ext cx="36576" cy="2606040"/>
          </a:xfrm>
          <a:prstGeom prst="rect">
            <a:avLst/>
          </a:prstGeom>
          <a:solidFill>
            <a:srgbClr val="5C8B7A"/>
          </a:solidFill>
          <a:ln/>
        </p:spPr>
      </p:sp>
      <p:sp>
        <p:nvSpPr>
          <p:cNvPr id="11" name="Text 9"/>
          <p:cNvSpPr/>
          <p:nvPr/>
        </p:nvSpPr>
        <p:spPr>
          <a:xfrm>
            <a:off x="3406140" y="2011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406140" y="2560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VOC 구조화 가능성 검토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06140" y="297180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대치동 4년간 학생·학부모 정성·정량 시트 운용 경험을 바탕으로, 7개 카테고리 × 3단계 만족도 + 재구매·이탈 outcome label 구조를 가상 데이터로 구성했습니다.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89320" y="1920240"/>
            <a:ext cx="36576" cy="2606040"/>
          </a:xfrm>
          <a:prstGeom prst="rect">
            <a:avLst/>
          </a:prstGeom>
          <a:solidFill>
            <a:srgbClr val="5C8B7A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2011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172200" y="2560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정직한 한계 명시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72200" y="297180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분석의 한계 4가지(가상 데이터 / 표본 편향 / 단일 시점 / 자동 분류 오차)를 별도 슬라이드로 분리해, 정량 지표를 다루는 자세를 함께 보였습니다.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48234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업그레이드캠퍼스 학생·학부모 VOC 100건 운영 분석 · 윤상훈 · 팀업그레이드 운영팀 지원 자료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863840" y="48234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/ 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·  SAMPLE SETUP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6350">
            <a:solidFill>
              <a:srgbClr val="E2E5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업그레이드캠퍼스 시나리오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미국 중고등학생·유학생과 학부모를 대상으로 한 가상 운영 환경을 설정했습니다.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4023360" cy="3657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Shape 5"/>
          <p:cNvSpPr/>
          <p:nvPr/>
        </p:nvSpPr>
        <p:spPr>
          <a:xfrm>
            <a:off x="4663440" y="1828800"/>
            <a:ext cx="4023360" cy="3657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8562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설정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00600" y="18562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VOC 데이터 (가상)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3317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 유형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74520" y="2331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글로벌 비대면 1:1 튜터링 (가상)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2788920"/>
            <a:ext cx="3749040" cy="0"/>
          </a:xfrm>
          <a:prstGeom prst="line">
            <a:avLst/>
          </a:prstGeom>
          <a:noFill/>
          <a:ln w="6350">
            <a:solidFill>
              <a:srgbClr val="E2E5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8346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 학생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74520" y="2834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미국 중고등학생 + 유학생 (가상)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3291840"/>
            <a:ext cx="3749040" cy="0"/>
          </a:xfrm>
          <a:prstGeom prst="line">
            <a:avLst/>
          </a:prstGeom>
          <a:noFill/>
          <a:ln w="6350">
            <a:solidFill>
              <a:srgbClr val="E2E5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3375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학생 규모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874520" y="3337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활성 학생 약 300명 가정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3794760"/>
            <a:ext cx="3749040" cy="0"/>
          </a:xfrm>
          <a:prstGeom prst="line">
            <a:avLst/>
          </a:prstGeom>
          <a:noFill/>
          <a:ln w="6350">
            <a:solidFill>
              <a:srgbClr val="E2E5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8404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수업 형태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74520" y="38404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 2회·회당 50분 화상 튜터링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" y="4297680"/>
            <a:ext cx="3749040" cy="0"/>
          </a:xfrm>
          <a:prstGeom prst="line">
            <a:avLst/>
          </a:prstGeom>
          <a:noFill/>
          <a:ln w="6350">
            <a:solidFill>
              <a:srgbClr val="E2E5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343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목표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874520" y="43434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VOC 카테고리화 + 재구매·이탈 패턴 도출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00600" y="23317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표본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080760" y="2331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VOC 100건 (가상 생성)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2788920"/>
            <a:ext cx="3749040" cy="0"/>
          </a:xfrm>
          <a:prstGeom prst="line">
            <a:avLst/>
          </a:prstGeom>
          <a:noFill/>
          <a:ln w="6350">
            <a:solidFill>
              <a:srgbClr val="E2E5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8346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수집 가정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080760" y="2834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2025.10 ~ 2026.03 (6개월)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3291840"/>
            <a:ext cx="3749040" cy="0"/>
          </a:xfrm>
          <a:prstGeom prst="line">
            <a:avLst/>
          </a:prstGeom>
          <a:noFill/>
          <a:ln w="6350">
            <a:solidFill>
              <a:srgbClr val="E2E5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33375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분포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080760" y="3337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수업 만족도 설문 50건 / 학부모 1:1 콜 30건 / 재등록 인터뷰 20건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00600" y="3794760"/>
            <a:ext cx="3749040" cy="0"/>
          </a:xfrm>
          <a:prstGeom prst="line">
            <a:avLst/>
          </a:prstGeom>
          <a:noFill/>
          <a:ln w="6350">
            <a:solidFill>
              <a:srgbClr val="E2E5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38404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분류 보조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080760" y="38404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기반 1차 분류 · 수동 검증 병행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00600" y="4297680"/>
            <a:ext cx="3749040" cy="0"/>
          </a:xfrm>
          <a:prstGeom prst="line">
            <a:avLst/>
          </a:prstGeom>
          <a:noFill/>
          <a:ln w="6350">
            <a:solidFill>
              <a:srgbClr val="E2E5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4343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방법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080760" y="43434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무작위 20건 수동 라벨링 · 일치율 측정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5760" y="48234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업그레이드캠퍼스 학생·학부모 VOC 100건 운영 분석 · 윤상훈 · 팀업그레이드 운영팀 지원 자료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863840" y="48234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/ 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·  METHODOLOGY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6350">
            <a:solidFill>
              <a:srgbClr val="E2E5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VOC 분석 4단계 흐름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카테고리 정의 → 1차 분류 → 수동 검증 → 재구매·이탈 패턴 분석의 4단계 구조입니다.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457200" cy="45720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2697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카테고리 정의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0632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학생·학부모 응대 사이클에 기반해 7개 카테고리 사전 정의 (대치동 4년 운용 경험에서 도출)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468880" y="2176272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679192" y="2103120"/>
            <a:ext cx="457200" cy="45720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2" name="Text 10"/>
          <p:cNvSpPr/>
          <p:nvPr/>
        </p:nvSpPr>
        <p:spPr>
          <a:xfrm>
            <a:off x="2679192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633472" y="2697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보조 1차 분류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33472" y="30632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VOC 1건씩 분류 기준에 따라 카테고리 + 만족도(부정/중립/긍정) + outcome label(재구매/이탈 의향) 초안 생성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99432" y="2176272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09744" y="2103120"/>
            <a:ext cx="457200" cy="45720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7" name="Text 15"/>
          <p:cNvSpPr/>
          <p:nvPr/>
        </p:nvSpPr>
        <p:spPr>
          <a:xfrm>
            <a:off x="4809744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64024" y="2697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수동 검증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64024" y="30632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무작위 20건 수동 라벨링 후 1차 분류 결과와 일치율 측정 (목표 85%+)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729984" y="2176272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940296" y="2103120"/>
            <a:ext cx="457200" cy="45720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22" name="Text 20"/>
          <p:cNvSpPr/>
          <p:nvPr/>
        </p:nvSpPr>
        <p:spPr>
          <a:xfrm>
            <a:off x="6940296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894576" y="2697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패턴 분석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94576" y="30632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카테고리별 부정 비율 + outcome label 교차 분석으로 재구매·이탈 분기점 도출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solidFill>
            <a:srgbClr val="E8F0EC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본 샘플 결과  ·  </a:t>
            </a:r>
            <a:pPr indent="0" marL="0">
              <a:buNone/>
            </a:pPr>
            <a:r>
              <a:rPr lang="en-US" sz="11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1차 분류와 수동 라벨링 일치율 87%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(카테고리 84% / 만족도 90%, 20건 수동 검증 · 가상 데이터)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48234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업그레이드캠퍼스 학생·학부모 VOC 100건 운영 분석 · 윤상훈 · 팀업그레이드 운영팀 지원 자료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863840" y="48234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/ 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·  CLASSIFICATION RESULT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6350">
            <a:solidFill>
              <a:srgbClr val="E2E5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7개 카테고리 × 만족도 분포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100건 분류 결과 (가상 데이터). 부정 비율은 운영 응대(30%) &gt; 학부모 커뮤니케이션(25%) &gt; 학습관리(22%) 순으로 큽니다.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828800"/>
          <a:ext cx="54864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126480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관찰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126480" y="2103120"/>
            <a:ext cx="2560320" cy="0"/>
          </a:xfrm>
          <a:prstGeom prst="line">
            <a:avLst/>
          </a:prstGeom>
          <a:noFill/>
          <a:ln w="6350">
            <a:solidFill>
              <a:srgbClr val="E2E5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26480" y="224028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0" y="22402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응대·이슈 해결이 가장 큰 부정 영역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00800" y="24963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부정 30% · 시차 대응 구조 점검 필요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126480" y="283464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00800" y="28346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학부모 커뮤니케이션도 부정 25%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00800" y="30906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시차·채널 운영 방식과 연결될 가능성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6126480" y="342900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400800" y="34290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수업 품질은 만족도 70%로 강점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400800" y="36850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튜터 매칭 핵심 가치 작동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126480" y="402336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400800" y="40233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비용·결제는 중립이 50%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400800" y="42793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가성비 인식 모호 · 잠재 리스크</a:t>
            </a:r>
            <a:endParaRPr lang="en-US" sz="850" dirty="0"/>
          </a:p>
        </p:txBody>
      </p:sp>
      <p:sp>
        <p:nvSpPr>
          <p:cNvPr id="23" name="Multi Label Note"/>
          <p:cNvSpPr/>
          <p:nvPr/>
        </p:nvSpPr>
        <p:spPr>
          <a:xfrm>
            <a:off x="457200" y="45720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주의: VOC 1건이 복수 카테고리에 걸칠 수 있는 다중 라벨링 기준입니다. 카테고리별 언급 수 합계는 전체 VOC 100건을 초과할 수 있습니다.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65760" y="48234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업그레이드캠퍼스 학생·학부모 VOC 100건 운영 분석 · 윤상훈 · 팀업그레이드 운영팀 지원 자료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7863840" y="48234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/ 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·  INSIGHT 01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6350">
            <a:solidFill>
              <a:srgbClr val="E2E5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부정 후기의 핵심은 "운영 응대 지연"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응대 부정 30건의 키워드를 다시 분석하면, 4개 클러스터로 수렴합니다.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부정 후기 30건 키워드 분포 (가상 빈도)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응답 지연 (24시간+)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88920" y="2377440"/>
            <a:ext cx="2011680" cy="16459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9" name="Shape 7"/>
          <p:cNvSpPr/>
          <p:nvPr/>
        </p:nvSpPr>
        <p:spPr>
          <a:xfrm>
            <a:off x="2788920" y="2377440"/>
            <a:ext cx="2011680" cy="16459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23317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12건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62432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문의했는데 다음날 답이 와요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9260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시차 구간 응대 공백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88920" y="2971800"/>
            <a:ext cx="2011680" cy="16459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4" name="Shape 12"/>
          <p:cNvSpPr/>
          <p:nvPr/>
        </p:nvSpPr>
        <p:spPr>
          <a:xfrm>
            <a:off x="2788920" y="2971800"/>
            <a:ext cx="1508760" cy="16459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5" name="Text 13"/>
          <p:cNvSpPr/>
          <p:nvPr/>
        </p:nvSpPr>
        <p:spPr>
          <a:xfrm>
            <a:off x="4343400" y="292608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9건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21868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미국 시간 기준으로 답변을 기다리는 시간이 길게 느껴져요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5204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이슈 해결 다중 핸드오프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88920" y="3566160"/>
            <a:ext cx="2011680" cy="16459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9" name="Shape 17"/>
          <p:cNvSpPr/>
          <p:nvPr/>
        </p:nvSpPr>
        <p:spPr>
          <a:xfrm>
            <a:off x="2788920" y="3566160"/>
            <a:ext cx="1005840" cy="16459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0" y="35204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6건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81304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담당자가 계속 바뀌어서 처음부터 다시 설명해야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1148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안내 부재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88920" y="4160520"/>
            <a:ext cx="2011680" cy="16459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4" name="Shape 22"/>
          <p:cNvSpPr/>
          <p:nvPr/>
        </p:nvSpPr>
        <p:spPr>
          <a:xfrm>
            <a:off x="2788920" y="4160520"/>
            <a:ext cx="502920" cy="16459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5" name="Text 23"/>
          <p:cNvSpPr/>
          <p:nvPr/>
        </p:nvSpPr>
        <p:spPr>
          <a:xfrm>
            <a:off x="3337560" y="4114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3건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40740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늦어지는지 설명이 없어요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760720" y="1920240"/>
            <a:ext cx="36576" cy="260604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0" y="19202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VOC (가상)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43600" y="228600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i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“수업 일정 변경 문의를 남겼는데 다음날 오후에 답장 와요. 미국 시간 기준으로는 거의 이틀이 걸린 셈이에요. 시차 때문이라는 건 알지만, 학부모 입장에선 우리 아이 수업이 멈춘 시간이 길게 느껴집니다.”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43600" y="4114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학부모 1:1 콜 인터뷰 · 30대 후반 학부모 (가상)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65760" y="48234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업그레이드캠퍼스 학생·학부모 VOC 100건 운영 분석 · 윤상훈 · 팀업그레이드 운영팀 지원 자료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863840" y="48234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/ 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·  INSIGHT 02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6350">
            <a:solidFill>
              <a:srgbClr val="E2E5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튜터 응대 vs 운영팀 응대 만족도 격차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 서비스 내 응대 만족도 격차는 학부모 만족도와 재구매 의향에 비대칭으로 영향을 줍니다.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36576" cy="2697480"/>
          </a:xfrm>
          <a:prstGeom prst="rect">
            <a:avLst/>
          </a:prstGeom>
          <a:solidFill>
            <a:srgbClr val="5C8B7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74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튜터 응대 (수업 품질 카테고리)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5C8B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8%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부정 후기 비율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키워드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" y="3703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친절한 설명 · 학생 페이스 맞춤 · 학습 동기 부여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40233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“My tutor actually understands what I'm struggling with and adjusts the pace. I look forward to the lessons.”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17720" y="1874520"/>
            <a:ext cx="36576" cy="26974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1874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운영팀 응대 (운영 응대 카테고리)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0600" y="22402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B850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30%</a:t>
            </a:r>
            <a:endParaRPr lang="en-US" sz="6400" dirty="0"/>
          </a:p>
        </p:txBody>
      </p:sp>
      <p:sp>
        <p:nvSpPr>
          <p:cNvPr id="16" name="Text 14"/>
          <p:cNvSpPr/>
          <p:nvPr/>
        </p:nvSpPr>
        <p:spPr>
          <a:xfrm>
            <a:off x="4800600" y="3108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부정 후기 비율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34747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키워드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00600" y="3703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응답 지연 · 시차 구간 응대 공백 · 다중 핸드오프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00600" y="40233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“수업 품질은 만족하지만 매번 일정 조정할 때마다 답답해요. 학부모로서는 운영팀이 가장 자주 마주치는 접점이라…”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4617720"/>
            <a:ext cx="8229600" cy="0"/>
          </a:xfrm>
          <a:prstGeom prst="rect">
            <a:avLst/>
          </a:prstGeom>
          <a:noFill/>
          <a:ln w="6350">
            <a:solidFill>
              <a:srgbClr val="E2E5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8234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업그레이드캠퍼스 학생·학부모 VOC 100건 운영 분석 · 윤상훈 · 팀업그레이드 운영팀 지원 자료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863840" y="48234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/ 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·  INSIGHT 03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6350">
            <a:solidFill>
              <a:srgbClr val="E2E5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재구매·이탈 분기점은 어디서 갈리는가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VOC × outcome label 교차 분석 (가상). 이탈 의향 그룹과 재구매 의향 그룹은 카테고리별 부정률 패턴이 다릅니다.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828800"/>
          <a:ext cx="521208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852160" y="18288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관찰된 분기 패턴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852160" y="2103120"/>
            <a:ext cx="2834640" cy="0"/>
          </a:xfrm>
          <a:prstGeom prst="line">
            <a:avLst/>
          </a:prstGeom>
          <a:noFill/>
          <a:ln w="6350">
            <a:solidFill>
              <a:srgbClr val="E2E5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52160" y="22402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이탈 분기점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852160" y="249631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응대(55%) + 학부모 커뮤니케이션(48%) 부정이 함께 누적될 때 이탈 의향이 가장 높음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852160" y="31089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회복 가능 영역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852160" y="336499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수업 품질·튜터 매칭은 재구매 그룹과 이탈 그룹의 부정률 격차가 작음 (서비스 본질 자체는 강점)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852160" y="39776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조기 신호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852160" y="423367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학습관리·진도 피드백 부정(이탈 38% vs 재구매 14%)은 이탈로 가기 전 1차 신호로 추정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65760" y="48234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업그레이드캠퍼스 학생·학부모 VOC 100건 운영 분석 · 윤상훈 · 팀업그레이드 운영팀 지원 자료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7863840" y="48234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/ 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·  OPERATIONAL PRIORITY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6350">
            <a:solidFill>
              <a:srgbClr val="E2E5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개선 우선순위 3가지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이탈 분기점에서 도출된 카테고리를 임팩트·실행 난이도 매트릭스로 우선순위화 (가상 가설).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640080" cy="86868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9164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097280" y="1691640"/>
            <a:ext cx="7589520" cy="8686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17373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시차 구간 응대 체계 보강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20574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분석 근거  </a:t>
            </a:r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이탈 의향 그룹의 부정 1순위 (55%). 대치동 4년의 상담 경험에서도 학부모가 진행 상황을 예측하지 못할 때 불안이 커졌음 — 유사 패턴 가설.
</a:t>
            </a:r>
            <a:pPr indent="0" marL="0">
              <a:lnSpc>
                <a:spcPct val="140000"/>
              </a:lnSpc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실행 가설  </a:t>
            </a:r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시차 구간별 코어 응대 윈도우 정의 + 1차 응답 SLA 가설 수립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583680" y="17830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Impact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583680" y="198424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高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589520" y="17830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Effort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589520" y="198424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中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640080" cy="86868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65176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P2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097280" y="2651760"/>
            <a:ext cx="7589520" cy="8686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8" name="Text 16"/>
          <p:cNvSpPr/>
          <p:nvPr/>
        </p:nvSpPr>
        <p:spPr>
          <a:xfrm>
            <a:off x="1280160" y="26974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학부모 커뮤니케이션 정기 리포트화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30175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분석 근거  </a:t>
            </a:r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이탈 의향 그룹 부정 2순위 (48%). 학부모가 정보를 “요청해서 받는” 구조 → “정기적으로 받는” 구조로 전환 가설.
</a:t>
            </a:r>
            <a:pPr indent="0" marL="0">
              <a:lnSpc>
                <a:spcPct val="140000"/>
              </a:lnSpc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실행 가설  </a:t>
            </a:r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 1회 학생별 진도·과제·태도 요약 리포트 (영문/한글 병기) + 월 1회 학부모 체크인 (콜/비동기 리포트 중 파일럿)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583680" y="2743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Impact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583680" y="294436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高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589520" y="2743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Effort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589520" y="294436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中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7200" y="3611880"/>
            <a:ext cx="640080" cy="86868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61188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P3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1097280" y="3611880"/>
            <a:ext cx="7589520" cy="8686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7" name="Text 25"/>
          <p:cNvSpPr/>
          <p:nvPr/>
        </p:nvSpPr>
        <p:spPr>
          <a:xfrm>
            <a:off x="1280160" y="36576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학습관리·성과 피드백 가시화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80160" y="3977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분석 근거  </a:t>
            </a:r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이탈 1차 신호로 추정 (이탈 38% vs 재구매 14%). 진도가 보이지 않을 때 학부모가 가치 인식을 잃음.
</a:t>
            </a:r>
            <a:pPr indent="0" marL="0">
              <a:lnSpc>
                <a:spcPct val="140000"/>
              </a:lnSpc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실행 가설  </a:t>
            </a:r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튜터별 수업 후 5분 보이스 메모 → 자동 요약/검수 → 학부모·학생 동시 공유 가설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583680" y="3703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Impact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583680" y="390448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中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589520" y="3703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Effort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589520" y="390448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中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57200" y="4617720"/>
            <a:ext cx="8229600" cy="0"/>
          </a:xfrm>
          <a:prstGeom prst="line">
            <a:avLst/>
          </a:prstGeom>
          <a:noFill/>
          <a:ln w="6350">
            <a:solidFill>
              <a:srgbClr val="E2E5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전제 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P2·P3가 이미 운영 중이라면, 본 제안은 회수율·도달률 등 KPI 보강 관점으로 재해석되어야 합니다.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65760" y="48234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업그레이드캠퍼스 학생·학부모 VOC 100건 운영 분석 · 윤상훈 · 팀업그레이드 운영팀 지원 자료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863840" y="48234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/ 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·  VERIFICATION KPI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6350">
            <a:solidFill>
              <a:srgbClr val="E2E5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지표 제안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“예상 효과”를 단정하지 않고, 운영 가설이 작동했는지 사후 측정 가능한 지표 형태로 정리합니다.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697480" cy="36576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8745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운영 응대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33172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1차 응답 시간 중앙값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6243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문의 접수 → 1차 응답까지 시간 중앙값 (시차 구간별 분리 측정)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320040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 이슈 핸드오프 횟수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49300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이슈가 종결되기까지 거친 담당자 수의 평균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406908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응대 만족도 (5점)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436168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이슈 종결 직후 학부모/학생 5점 척도 회수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23260" y="1828800"/>
            <a:ext cx="2697480" cy="36576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15" name="Text 13"/>
          <p:cNvSpPr/>
          <p:nvPr/>
        </p:nvSpPr>
        <p:spPr>
          <a:xfrm>
            <a:off x="3360420" y="18745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P2 학부모 커뮤니케이션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68980" y="233172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주간 리포트 발송률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68980" y="26243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활성 학생 수 대비 주간 리포트가 학부모에게 도달한 비율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68980" y="320040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월간 체크인 응답률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68980" y="349300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학부모 체크인(콜/비동기 리포트) 제안 → 실제 응답으로 이어진 비율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68980" y="406908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학부모 만족도 NPS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68980" y="436168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1회 학부모 NPS · 카테고리별 분리 추적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89320" y="1828800"/>
            <a:ext cx="2697480" cy="36576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18745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P3 학습관리·피드백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35040" y="233172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수업 후 보이스 메모 도달률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35040" y="26243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수업 종료 후 24시간 내 학생/학부모에게 도달한 비율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035040" y="320040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진도 보드 업데이트 주기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35040" y="349300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학생별 진도 보드가 마지막으로 업데이트된 평균 시간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035040" y="406908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재구매 의향 분기 시점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35040" y="436168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학생별 재구매 의향이 변동한 시점과 카테고리 부정 발생 시점의 시차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48234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업그레이드캠퍼스 학생·학부모 VOC 100건 운영 분석 · 윤상훈 · 팀업그레이드 운영팀 지원 자료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863840" y="48234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·  LIMITATIONS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6350">
            <a:solidFill>
              <a:srgbClr val="E2E5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분석의 한계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입사 후 실제 데이터와 결합하기 전, 본 보고서가 갖는 한계를 별도 슬라이드로 명시합니다.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6576" cy="13716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74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18745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데이터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100건의 VOC와 분포·키워드는 모두 가상으로 생성한 데이터입니다. 실제 업그레이드캠퍼스 학생/학부모 VOC는 반영되어 있지 않습니다.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b="1" spc="100" kern="0" dirty="0">
                <a:solidFill>
                  <a:srgbClr val="5C8B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보완 방향  </a:t>
            </a:r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입사 후 실제 VOC 풀과 결합 시, 카테고리 정의와 분포는 재검증이 필요합니다.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17720" y="1828800"/>
            <a:ext cx="36576" cy="13716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874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57800" y="18745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표본 편향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219456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VOC가 작성되는 시점·채널 자체에 편향이 존재합니다. 만족 영역의 침묵, 불만 영역의 과대표현 가능성을 본 분석은 보정하지 못했습니다.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00600" y="27889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b="1" spc="100" kern="0" dirty="0">
                <a:solidFill>
                  <a:srgbClr val="5C8B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보완 방향  </a:t>
            </a:r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정기 만족도 설문을 능동적으로 회수해 침묵 영역의 가시화가 동반되어야 합니다.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36576" cy="13716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375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" y="33375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시점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65760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6개월 가정 단일 시점 분석으로, 시즌성·학년별 흐름·시험 시즌 영향 등 시계열 변동은 다루지 못했습니다.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0080" y="42519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b="1" spc="100" kern="0" dirty="0">
                <a:solidFill>
                  <a:srgbClr val="5C8B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보완 방향  </a:t>
            </a:r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운영에서는 학기 시작·중간·종료 시점별 VOC 패턴 변동을 별도 추적해야 합니다.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17720" y="3291840"/>
            <a:ext cx="36576" cy="13716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33375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57800" y="33375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분류 오차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00600" y="365760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1차 분류 일치율 87%는 13% 오차를 의미합니다. 카테고리 경계가 모호한 VOC, 다중 카테고리 언급 VOC는 수동 보정이 필요합니다.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00600" y="42519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b="1" spc="100" kern="0" dirty="0">
                <a:solidFill>
                  <a:srgbClr val="5C8B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보완 방향  </a:t>
            </a:r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수동 검증 표본을 점진적으로 확대해 분류 기준 자체를 정교화해야 합니다.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65760" y="48234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업그레이드캠퍼스 학생·학부모 VOC 100건 운영 분석 · 윤상훈 · 팀업그레이드 운영팀 지원 자료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863840" y="48234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/ 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8A98A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SAMPLE  ·  CREATED FOR TEAM UPGRADE APPLICATION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8229600" cy="0"/>
          </a:xfrm>
          <a:prstGeom prst="line">
            <a:avLst/>
          </a:prstGeom>
          <a:noFill/>
          <a:ln w="6350">
            <a:solidFill>
              <a:srgbClr val="3044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98A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CLOSING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보고서가 시연하려 한 것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48640" cy="0"/>
          </a:xfrm>
          <a:prstGeom prst="line">
            <a:avLst/>
          </a:prstGeom>
          <a:noFill/>
          <a:ln w="25400">
            <a:solidFill>
              <a:srgbClr val="5C8B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659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C8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복잡한 정성·정량 자료를 의사결정자가 짧은 시간에 핵심을 파악할 수 있는 형태로 재구성하는 일을 7년간 반복해 왔습니다.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C8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산업과 맥락은 달라졌지만, 작업의 본질은 같았습니다. 본 보고서는 그 작업 흐름을 업그레이드캠퍼스 운영 환경에 옮겨 시연한 결과물입니다.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98A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7년 흐름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262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8B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2014–2017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703320"/>
            <a:ext cx="262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한화오션 특수선무장설계팀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069080"/>
            <a:ext cx="262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B0BC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기관 보고용 PPT/HWP 자료 설계·취합·작성 (3년 4개월)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61360" y="3429000"/>
            <a:ext cx="262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8B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2022–현재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61360" y="3703320"/>
            <a:ext cx="262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대치동 정시 컨설팅 (4년+)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61360" y="4069080"/>
            <a:ext cx="262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B0BC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학생 100+/시즌 정성·정량 시트 운용 + 학생/학부모/원장 3그룹 보고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65520" y="3429000"/>
            <a:ext cx="262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8B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65520" y="3703320"/>
            <a:ext cx="262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팀업그레이드 운영팀 지원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65520" y="4069080"/>
            <a:ext cx="262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B0BC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VOC·재구매율·만족도 데이터 기반 운영 개선 + 빡센 관리 시스템 실행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3044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98A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윤상훈 · Sanghoon Yoon  ·  2026.04  ·  팀업그레이드코리아 운영팀 지원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가상 업그레이드캠퍼스 VOC 100건 운영 분석</dc:title>
  <dc:subject>팀업그레이드 운영팀 지원 자료</dc:subject>
  <dc:creator>Sanghoon Yoon</dc:creator>
  <cp:lastModifiedBy>Sanghoon Yoon</cp:lastModifiedBy>
  <cp:revision>1</cp:revision>
  <dcterms:created xsi:type="dcterms:W3CDTF">2026-04-27T22:25:33Z</dcterms:created>
  <dcterms:modified xsi:type="dcterms:W3CDTF">2026-04-27T22:25:33Z</dcterms:modified>
</cp:coreProperties>
</file>